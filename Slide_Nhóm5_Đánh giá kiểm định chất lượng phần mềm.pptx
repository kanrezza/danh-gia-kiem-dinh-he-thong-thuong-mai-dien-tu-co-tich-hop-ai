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2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3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rts/chart4.xml" ContentType="application/vnd.openxmlformats-officedocument.drawingml.chart+xml"/>
  <Override PartName="/ppt/notesSlides/notesSlide21.xml" ContentType="application/vnd.openxmlformats-officedocument.presentationml.notesSlide+xml"/>
  <Override PartName="/ppt/charts/chart5.xml" ContentType="application/vnd.openxmlformats-officedocument.drawingml.chart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ở đầu" id="{529DF046-C19B-321C-7FDC-6E082AA8D8F5}">
          <p14:sldIdLst>
            <p14:sldId id="256"/>
            <p14:sldId id="257"/>
          </p14:sldIdLst>
        </p14:section>
        <p14:section name="Chương I. Đặc tả yêu cầu" id="{5E1F5DC3-B699-E3A1-F58D-93FEC0E465A8}">
          <p14:sldIdLst>
            <p14:sldId id="258"/>
            <p14:sldId id="259"/>
          </p14:sldIdLst>
        </p14:section>
        <p14:section name="Chương II. SQA và Test Plan" id="{4824816C-689C-C0C0-14F0-36D1CDC26128}">
          <p14:sldIdLst>
            <p14:sldId id="260"/>
            <p14:sldId id="261"/>
            <p14:sldId id="262"/>
          </p14:sldIdLst>
        </p14:section>
        <p14:section name="Chương III. Test case" id="{73DD7A01-4009-3D9D-1546-B44BA85C2D1B}">
          <p14:sldIdLst>
            <p14:sldId id="263"/>
            <p14:sldId id="264"/>
            <p14:sldId id="265"/>
            <p14:sldId id="266"/>
          </p14:sldIdLst>
        </p14:section>
        <p14:section name="Chương IV. Kiểm thử tự động" id="{501443A6-D900-790D-5852-FDD16EC6FB9A}">
          <p14:sldIdLst>
            <p14:sldId id="267"/>
            <p14:sldId id="268"/>
            <p14:sldId id="269"/>
          </p14:sldIdLst>
        </p14:section>
        <p14:section name="Chương V. Hiệu năng" id="{46E7DE17-1014-0FB1-7B5C-4432D473911E}">
          <p14:sldIdLst>
            <p14:sldId id="270"/>
            <p14:sldId id="271"/>
            <p14:sldId id="272"/>
          </p14:sldIdLst>
        </p14:section>
        <p14:section name="Chương VI. Bảo mật" id="{5E380494-FB5E-F420-564F-3C737E089D5C}">
          <p14:sldIdLst>
            <p14:sldId id="273"/>
            <p14:sldId id="274"/>
          </p14:sldIdLst>
        </p14:section>
        <p14:section name="Chương VII. Kết luận" id="{5ABE0BDE-7E0D-BEAF-5D37-69830A7500C9}">
          <p14:sldIdLst>
            <p14:sldId id="275"/>
            <p14:sldId id="276"/>
            <p14:sldId id="277"/>
            <p14:sldId id="278"/>
            <p14:sldId id="27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Số test case</c:v>
                </c:pt>
              </c:strCache>
            </c:strRef>
          </c:tx>
          <c:spPr>
            <a:solidFill>
              <a:srgbClr val="1E3A5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F2937"/>
                    </a:solidFill>
                    <a:latin typeface="+mn-lt"/>
                  </a:defRPr>
                </a:pPr>
                <a:endParaRPr lang="en-V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AUTH</c:v>
                </c:pt>
                <c:pt idx="1">
                  <c:v>PROD</c:v>
                </c:pt>
                <c:pt idx="2">
                  <c:v>ORD</c:v>
                </c:pt>
                <c:pt idx="3">
                  <c:v>HR</c:v>
                </c:pt>
                <c:pt idx="4">
                  <c:v>VOUC</c:v>
                </c:pt>
                <c:pt idx="5">
                  <c:v>CHAT</c:v>
                </c:pt>
                <c:pt idx="6">
                  <c:v>AI</c:v>
                </c:pt>
                <c:pt idx="7">
                  <c:v>ADM</c:v>
                </c:pt>
                <c:pt idx="8">
                  <c:v>REV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25</c:v>
                </c:pt>
                <c:pt idx="1">
                  <c:v>22</c:v>
                </c:pt>
                <c:pt idx="2">
                  <c:v>22</c:v>
                </c:pt>
                <c:pt idx="3">
                  <c:v>15</c:v>
                </c:pt>
                <c:pt idx="4">
                  <c:v>12</c:v>
                </c:pt>
                <c:pt idx="5">
                  <c:v>11</c:v>
                </c:pt>
                <c:pt idx="6">
                  <c:v>10</c:v>
                </c:pt>
                <c:pt idx="7">
                  <c:v>10</c:v>
                </c:pt>
                <c:pt idx="8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2EF-3049-A339-2D32ED4AEC8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93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Đạt</c:v>
                </c:pt>
              </c:strCache>
            </c:strRef>
          </c:tx>
          <c:spPr>
            <a:solidFill>
              <a:srgbClr val="1E3A5F"/>
            </a:solidFill>
            <a:effectLst/>
          </c:spPr>
          <c:invertIfNegative val="0"/>
          <c:dLbls>
            <c:numFmt formatCode="0;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+mn-lt"/>
                  </a:defRPr>
                </a:pPr>
                <a:endParaRPr lang="en-V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AUTH</c:v>
                </c:pt>
                <c:pt idx="1">
                  <c:v>PROD</c:v>
                </c:pt>
                <c:pt idx="2">
                  <c:v>ORD</c:v>
                </c:pt>
                <c:pt idx="3">
                  <c:v>VOUC</c:v>
                </c:pt>
                <c:pt idx="4">
                  <c:v>REV</c:v>
                </c:pt>
                <c:pt idx="5">
                  <c:v>CHAT</c:v>
                </c:pt>
                <c:pt idx="6">
                  <c:v>AI</c:v>
                </c:pt>
                <c:pt idx="7">
                  <c:v>HR</c:v>
                </c:pt>
                <c:pt idx="8">
                  <c:v>ADM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19</c:v>
                </c:pt>
                <c:pt idx="1">
                  <c:v>18</c:v>
                </c:pt>
                <c:pt idx="2">
                  <c:v>14</c:v>
                </c:pt>
                <c:pt idx="3">
                  <c:v>12</c:v>
                </c:pt>
                <c:pt idx="4">
                  <c:v>8</c:v>
                </c:pt>
                <c:pt idx="5">
                  <c:v>5</c:v>
                </c:pt>
                <c:pt idx="6">
                  <c:v>8</c:v>
                </c:pt>
                <c:pt idx="7">
                  <c:v>14</c:v>
                </c:pt>
                <c:pt idx="8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7B1-8F48-B6C2-2050FCA1A83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Không đạt</c:v>
                </c:pt>
              </c:strCache>
            </c:strRef>
          </c:tx>
          <c:spPr>
            <a:solidFill>
              <a:srgbClr val="B91C1C"/>
            </a:solidFill>
            <a:effectLst/>
          </c:spPr>
          <c:invertIfNegative val="0"/>
          <c:dLbls>
            <c:numFmt formatCode="0;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+mn-lt"/>
                  </a:defRPr>
                </a:pPr>
                <a:endParaRPr lang="en-V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AUTH</c:v>
                </c:pt>
                <c:pt idx="1">
                  <c:v>PROD</c:v>
                </c:pt>
                <c:pt idx="2">
                  <c:v>ORD</c:v>
                </c:pt>
                <c:pt idx="3">
                  <c:v>VOUC</c:v>
                </c:pt>
                <c:pt idx="4">
                  <c:v>REV</c:v>
                </c:pt>
                <c:pt idx="5">
                  <c:v>CHAT</c:v>
                </c:pt>
                <c:pt idx="6">
                  <c:v>AI</c:v>
                </c:pt>
                <c:pt idx="7">
                  <c:v>HR</c:v>
                </c:pt>
                <c:pt idx="8">
                  <c:v>ADM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0</c:v>
                </c:pt>
                <c:pt idx="4">
                  <c:v>0</c:v>
                </c:pt>
                <c:pt idx="5">
                  <c:v>1</c:v>
                </c:pt>
                <c:pt idx="6">
                  <c:v>1</c:v>
                </c:pt>
                <c:pt idx="7">
                  <c:v>0</c:v>
                </c:pt>
                <c:pt idx="8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7B1-8F48-B6C2-2050FCA1A83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Chưa thực hiện</c:v>
                </c:pt>
              </c:strCache>
            </c:strRef>
          </c:tx>
          <c:spPr>
            <a:solidFill>
              <a:srgbClr val="C5CCD6"/>
            </a:solidFill>
            <a:effectLst/>
          </c:spPr>
          <c:invertIfNegative val="0"/>
          <c:dLbls>
            <c:numFmt formatCode="0;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+mn-lt"/>
                  </a:defRPr>
                </a:pPr>
                <a:endParaRPr lang="en-V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AUTH</c:v>
                </c:pt>
                <c:pt idx="1">
                  <c:v>PROD</c:v>
                </c:pt>
                <c:pt idx="2">
                  <c:v>ORD</c:v>
                </c:pt>
                <c:pt idx="3">
                  <c:v>VOUC</c:v>
                </c:pt>
                <c:pt idx="4">
                  <c:v>REV</c:v>
                </c:pt>
                <c:pt idx="5">
                  <c:v>CHAT</c:v>
                </c:pt>
                <c:pt idx="6">
                  <c:v>AI</c:v>
                </c:pt>
                <c:pt idx="7">
                  <c:v>HR</c:v>
                </c:pt>
                <c:pt idx="8">
                  <c:v>ADM</c:v>
                </c:pt>
              </c:strCache>
            </c: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5</c:v>
                </c:pt>
                <c:pt idx="1">
                  <c:v>3</c:v>
                </c:pt>
                <c:pt idx="2">
                  <c:v>7</c:v>
                </c:pt>
                <c:pt idx="3">
                  <c:v>0</c:v>
                </c:pt>
                <c:pt idx="4">
                  <c:v>0</c:v>
                </c:pt>
                <c:pt idx="5">
                  <c:v>5</c:v>
                </c:pt>
                <c:pt idx="6">
                  <c:v>1</c:v>
                </c:pt>
                <c:pt idx="7">
                  <c:v>1</c:v>
                </c:pt>
                <c:pt idx="8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7B1-8F48-B6C2-2050FCA1A83E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93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F2937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Đạt được (%)</c:v>
                </c:pt>
              </c:strCache>
            </c:strRef>
          </c:tx>
          <c:spPr>
            <a:solidFill>
              <a:srgbClr val="1E3A5F"/>
            </a:solidFill>
            <a:effectLst/>
          </c:spPr>
          <c:invertIfNegative val="0"/>
          <c:dLbls>
            <c:numFmt formatCode="0.00;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F2937"/>
                    </a:solidFill>
                    <a:latin typeface="+mn-lt"/>
                  </a:defRPr>
                </a:pPr>
                <a:endParaRPr lang="en-V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Câu lệnh</c:v>
                </c:pt>
                <c:pt idx="1">
                  <c:v>Nhánh</c:v>
                </c:pt>
                <c:pt idx="2">
                  <c:v>Hàm</c:v>
                </c:pt>
                <c:pt idx="3">
                  <c:v>Dòng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70.849999999999994</c:v>
                </c:pt>
                <c:pt idx="1">
                  <c:v>56.46</c:v>
                </c:pt>
                <c:pt idx="2">
                  <c:v>83.15</c:v>
                </c:pt>
                <c:pt idx="3">
                  <c:v>78.45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FCD-834A-BDD6-896687FB00C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Ngưỡng (%)</c:v>
                </c:pt>
              </c:strCache>
            </c:strRef>
          </c:tx>
          <c:spPr>
            <a:solidFill>
              <a:srgbClr val="C5CCD6"/>
            </a:solidFill>
            <a:effectLst/>
          </c:spPr>
          <c:invertIfNegative val="0"/>
          <c:dLbls>
            <c:numFmt formatCode="0.00;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F2937"/>
                    </a:solidFill>
                    <a:latin typeface="+mn-lt"/>
                  </a:defRPr>
                </a:pPr>
                <a:endParaRPr lang="en-V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Câu lệnh</c:v>
                </c:pt>
                <c:pt idx="1">
                  <c:v>Nhánh</c:v>
                </c:pt>
                <c:pt idx="2">
                  <c:v>Hàm</c:v>
                </c:pt>
                <c:pt idx="3">
                  <c:v>Dòng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70</c:v>
                </c:pt>
                <c:pt idx="1">
                  <c:v>60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FCD-834A-BDD6-896687FB00C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F2937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Số khiếm khuyết</c:v>
                </c:pt>
              </c:strCache>
            </c:strRef>
          </c:tx>
          <c:spPr>
            <a:solidFill>
              <a:srgbClr val="1E3A5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F2937"/>
                    </a:solidFill>
                    <a:latin typeface="+mn-lt"/>
                  </a:defRPr>
                </a:pPr>
                <a:endParaRPr lang="en-V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Nghiêm trọng</c:v>
                </c:pt>
                <c:pt idx="1">
                  <c:v>Cao</c:v>
                </c:pt>
                <c:pt idx="2">
                  <c:v>Trung bình</c:v>
                </c:pt>
                <c:pt idx="3">
                  <c:v>Thấp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</c:v>
                </c:pt>
                <c:pt idx="1">
                  <c:v>4</c:v>
                </c:pt>
                <c:pt idx="2">
                  <c:v>14</c:v>
                </c:pt>
                <c:pt idx="3">
                  <c:v>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D5E-6047-B398-DC4902AAC9F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Điểm</c:v>
                </c:pt>
              </c:strCache>
            </c:strRef>
          </c:tx>
          <c:spPr>
            <a:solidFill>
              <a:srgbClr val="1E3A5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F2937"/>
                    </a:solidFill>
                    <a:latin typeface="+mn-lt"/>
                  </a:defRPr>
                </a:pPr>
                <a:endParaRPr lang="en-V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Phù hợp chức năng</c:v>
                </c:pt>
                <c:pt idx="1">
                  <c:v>Hiệu quả hiệu năng</c:v>
                </c:pt>
                <c:pt idx="2">
                  <c:v>Tính tương thích</c:v>
                </c:pt>
                <c:pt idx="3">
                  <c:v>Độ tin cậy</c:v>
                </c:pt>
                <c:pt idx="4">
                  <c:v>Tính bảo mật</c:v>
                </c:pt>
                <c:pt idx="5">
                  <c:v>Khả năng bảo trì</c:v>
                </c:pt>
                <c:pt idx="6">
                  <c:v>Tính khả chuyển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</c:v>
                </c:pt>
                <c:pt idx="1">
                  <c:v>4</c:v>
                </c:pt>
                <c:pt idx="2">
                  <c:v>3</c:v>
                </c:pt>
                <c:pt idx="3">
                  <c:v>4</c:v>
                </c:pt>
                <c:pt idx="4">
                  <c:v>1</c:v>
                </c:pt>
                <c:pt idx="5">
                  <c:v>3</c:v>
                </c:pt>
                <c:pt idx="6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51-BC49-A74A-B40B089091B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93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"/>
          <c:min val="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89909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OI_DUNG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accent5"/>
                </a:solidFill>
              </a:rPr>
              <a:t>Nhóm 5 · Đánh giá và Kiểm định chất lượng phần mềm</a:t>
            </a:r>
            <a:endParaRPr lang="en-US" sz="9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4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3630" y="21728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000" dirty="0" err="1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Đại</a:t>
            </a:r>
            <a:r>
              <a:rPr lang="en-US" sz="2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dirty="0" err="1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học</a:t>
            </a:r>
            <a:r>
              <a:rPr lang="en-US" sz="2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dirty="0" err="1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Phenikaa</a:t>
            </a:r>
            <a:endParaRPr lang="en-US" sz="2000" dirty="0">
              <a:solidFill>
                <a:srgbClr val="6B728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Trường Công nghệ Thông tin 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Học phần Đánh giá và Kiểm định chất lượng phần mềm · Lớp CSE703010-1-1-26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43000"/>
            <a:ext cx="8046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Đánh giá và kiểm định chất lượng hệ thống thương mại điện tử có tích hợp AI Chatbot tư vấn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3347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Đối tượng kiểm thử: hệ thống Tiger Shop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3246120"/>
            <a:ext cx="8046720" cy="1753100"/>
          </a:xfrm>
          <a:prstGeom prst="roundRect">
            <a:avLst>
              <a:gd name="adj" fmla="val 5926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7" name="Text 5"/>
          <p:cNvSpPr txBox="1"/>
          <p:nvPr/>
        </p:nvSpPr>
        <p:spPr>
          <a:xfrm>
            <a:off x="777240" y="3387702"/>
            <a:ext cx="7589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400"/>
              </a:spcAft>
            </a:pPr>
            <a:r>
              <a:rPr lang="en-US" sz="1400" dirty="0" err="1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Giảng</a:t>
            </a: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dirty="0" err="1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viên</a:t>
            </a: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dirty="0" err="1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hướng</a:t>
            </a: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dirty="0" err="1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dẫn</a:t>
            </a: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                                     </a:t>
            </a:r>
            <a:r>
              <a:rPr lang="en-US" sz="1400" dirty="0" err="1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Nhóm</a:t>
            </a: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5: </a:t>
            </a:r>
          </a:p>
          <a:p>
            <a:pPr>
              <a:spcAft>
                <a:spcPts val="400"/>
              </a:spcAft>
            </a:pPr>
            <a:r>
              <a:rPr lang="en-US" sz="1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TS. Trịnh Thanh Bình                                      Trần Đình Danh</a:t>
            </a:r>
          </a:p>
          <a:p>
            <a:pPr>
              <a:spcAft>
                <a:spcPts val="400"/>
              </a:spcAft>
            </a:pPr>
            <a:r>
              <a:rPr lang="en-US" sz="1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                                                                           Lê Đình Đức Anh</a:t>
            </a:r>
          </a:p>
          <a:p>
            <a:pPr>
              <a:spcAft>
                <a:spcPts val="400"/>
              </a:spcAft>
            </a:pPr>
            <a:r>
              <a:rPr lang="en-US" sz="1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                                                                           Lê Quang Thắng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endParaRPr lang="en-US" sz="1400" dirty="0">
              <a:solidFill>
                <a:srgbClr val="6B728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2"/>
                </a:solidFill>
              </a:rPr>
              <a:t>Nội dung và cách trình bày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40233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Đối tượng kiểm thử và yêu cầu (Chương I)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 hoạch SQA và Test Plan (Chương II)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Thiết kế và thực hiện 135 test case (Chương III)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Kiểm thử tự động và độ bao phủ (Chương IV)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Kiểm thử hiệu năng (Chương V)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Kiểm thử bảo mật (Chương VI)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Tổng hợp, đánh giá và kết luận (Chương VII)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754880" y="1051560"/>
            <a:ext cx="3931920" cy="3429000"/>
          </a:xfrm>
          <a:prstGeom prst="roundRect">
            <a:avLst>
              <a:gd name="adj" fmla="val 2133"/>
            </a:avLst>
          </a:prstGeom>
          <a:solidFill>
            <a:srgbClr val="FFF1E6"/>
          </a:solidFill>
          <a:ln w="12700">
            <a:solidFill>
              <a:srgbClr val="FFF1E6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5" name="Text 3"/>
          <p:cNvSpPr txBox="1"/>
          <p:nvPr/>
        </p:nvSpPr>
        <p:spPr>
          <a:xfrm>
            <a:off x="4937760" y="11887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đoạn demo chạy trực tiếp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937760" y="1572768"/>
            <a:ext cx="3611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/>
            </a:pPr>
            <a:r>
              <a:rPr lang="en-US" sz="12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Tiger Shop đang chạy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/>
            </a:pPr>
            <a:r>
              <a:rPr lang="en-US" sz="12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Tệp quản lý 135 test case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/>
            </a:pPr>
            <a:r>
              <a:rPr lang="en-US" sz="12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Thực hiện lại 3 test case trên web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/>
            </a:pPr>
            <a:r>
              <a:rPr lang="en-US" sz="12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Chạy 222 kịch bản tự động, đo độ bao phủ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/>
            </a:pPr>
            <a:r>
              <a:rPr lang="en-US" sz="12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Giao dịch đặt hàng: hoàn tác và tranh chấp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/>
            </a:pPr>
            <a:r>
              <a:rPr lang="en-US" sz="12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Kiểm thử tải JMeter 100 người dùng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/>
            </a:pPr>
            <a:r>
              <a:rPr lang="en-US" sz="12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Tái hiện khóa chết khi đặt hàng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/>
            </a:pPr>
            <a:r>
              <a:rPr lang="en-US" sz="12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Kiểm thử bảo mật và báo cáo OWASP ZAP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4937760" y="3767328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quả trên màn hình sinh ra ngay lúc quay. Số liệu chính thức trong báo cáo là lượt kiểm thử ngày 25 và 26/09/2026.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2"/>
                </a:solidFill>
              </a:rPr>
              <a:t>Đối tượng kiểm thử: hệ thống Tiger Shop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874520" cy="1188720"/>
          </a:xfrm>
          <a:prstGeom prst="roundRect">
            <a:avLst>
              <a:gd name="adj" fmla="val 6154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4" name="Text 2"/>
          <p:cNvSpPr txBox="1"/>
          <p:nvPr/>
        </p:nvSpPr>
        <p:spPr>
          <a:xfrm>
            <a:off x="594360" y="1188720"/>
            <a:ext cx="16002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810512"/>
            <a:ext cx="160020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vai trò người dùng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14600" y="1097280"/>
            <a:ext cx="1874520" cy="1188720"/>
          </a:xfrm>
          <a:prstGeom prst="roundRect">
            <a:avLst>
              <a:gd name="adj" fmla="val 6154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7" name="Text 5"/>
          <p:cNvSpPr txBox="1"/>
          <p:nvPr/>
        </p:nvSpPr>
        <p:spPr>
          <a:xfrm>
            <a:off x="2651760" y="1188720"/>
            <a:ext cx="16002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2651760" y="1810512"/>
            <a:ext cx="160020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Case, đặc tả theo IEEE 830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1874520" cy="1188720"/>
          </a:xfrm>
          <a:prstGeom prst="roundRect">
            <a:avLst>
              <a:gd name="adj" fmla="val 6154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0" name="Text 8"/>
          <p:cNvSpPr txBox="1"/>
          <p:nvPr/>
        </p:nvSpPr>
        <p:spPr>
          <a:xfrm>
            <a:off x="594360" y="2560320"/>
            <a:ext cx="16002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118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3182112"/>
            <a:ext cx="160020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điểm cuối API đang hoạt động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514600" y="2468880"/>
            <a:ext cx="1874520" cy="1188720"/>
          </a:xfrm>
          <a:prstGeom prst="roundRect">
            <a:avLst>
              <a:gd name="adj" fmla="val 6154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3" name="Text 11"/>
          <p:cNvSpPr txBox="1"/>
          <p:nvPr/>
        </p:nvSpPr>
        <p:spPr>
          <a:xfrm>
            <a:off x="2651760" y="2560320"/>
            <a:ext cx="16002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2651760" y="3182112"/>
            <a:ext cx="160020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bảng dữ liệu MySQL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46320" y="1097280"/>
            <a:ext cx="38404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87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6" name="Text 14"/>
          <p:cNvSpPr txBox="1"/>
          <p:nvPr/>
        </p:nvSpPr>
        <p:spPr>
          <a:xfrm>
            <a:off x="4983480" y="1170432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Giao diện: React 19, Tailwind CSS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Mỗi vai trò một phân hệ riêng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846320" y="2057400"/>
            <a:ext cx="38404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87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8" name="Text 16"/>
          <p:cNvSpPr txBox="1"/>
          <p:nvPr/>
        </p:nvSpPr>
        <p:spPr>
          <a:xfrm>
            <a:off x="4983480" y="2130552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Máy chủ: Node.js 22, Express 4, Socket.IO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REST và chat thời gian thực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846320" y="3017520"/>
            <a:ext cx="38404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87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0" name="Text 18"/>
          <p:cNvSpPr txBox="1"/>
          <p:nvPr/>
        </p:nvSpPr>
        <p:spPr>
          <a:xfrm>
            <a:off x="4983480" y="3090672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Cơ sở dữ liệu: MySQL 8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bảng, chạy trong Docker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766560" y="1810512"/>
            <a:ext cx="0" cy="246888"/>
          </a:xfrm>
          <a:prstGeom prst="line">
            <a:avLst/>
          </a:prstGeom>
          <a:noFill/>
          <a:ln w="1587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2" name="Shape 20"/>
          <p:cNvSpPr/>
          <p:nvPr/>
        </p:nvSpPr>
        <p:spPr>
          <a:xfrm>
            <a:off x="6766560" y="2770632"/>
            <a:ext cx="0" cy="246888"/>
          </a:xfrm>
          <a:prstGeom prst="line">
            <a:avLst/>
          </a:prstGeom>
          <a:noFill/>
          <a:ln w="1587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3" name="Text 21"/>
          <p:cNvSpPr txBox="1"/>
          <p:nvPr/>
        </p:nvSpPr>
        <p:spPr>
          <a:xfrm>
            <a:off x="4846320" y="37673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Dịch vụ ngoài: Google Gemini cho trợ lý ảo Tiger AI, máy chủ thư SMTP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16052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FFF1E6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5" name="Text 23"/>
          <p:cNvSpPr txBox="1"/>
          <p:nvPr/>
        </p:nvSpPr>
        <p:spPr>
          <a:xfrm>
            <a:off x="640080" y="41605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1   </a:t>
            </a: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Mở web Tiger Shop đang chạy, đăng nhập lần lượt 4 vai trò</a:t>
            </a:r>
            <a:endParaRPr lang="en-US" sz="13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2"/>
                </a:solidFill>
              </a:rPr>
              <a:t>Yêu cầu phi chức năng có ngưỡng đo được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5120640" cy="91440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Chỉ tiêu hiệu năng (Bảng 1.31)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Ngưỡng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 đọc dữ liệu, thời gian phản hồi trung bình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Dưới 500 ms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 ghi dữ liệu, thời gian phản hồi trung bình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Dưới 1.000 ms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Trợ lý ảo Tiger AI trả lời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Dưới 5.000 ms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Tải trang lần đầu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Dưới 3 giây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Số người dùng đồng thời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Tối thiểu 100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Tỉ lệ lỗi ở 100 người dùng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Dưới 1%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Thông lượng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Tối thiểu 50 yêu cầu mỗi giây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852160" y="1051560"/>
            <a:ext cx="2834640" cy="2194560"/>
          </a:xfrm>
          <a:prstGeom prst="roundRect">
            <a:avLst>
              <a:gd name="adj" fmla="val 333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" name="Text 2"/>
          <p:cNvSpPr txBox="1"/>
          <p:nvPr/>
        </p:nvSpPr>
        <p:spPr>
          <a:xfrm>
            <a:off x="6035040" y="1188720"/>
            <a:ext cx="2514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Yêu cầu bảo mật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Mỗi vai trò chỉ làm được việc của mình. Mỗi người chỉ xem được dữ liệu của chính mình.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852160" y="3383280"/>
            <a:ext cx="2834640" cy="868680"/>
          </a:xfrm>
          <a:prstGeom prst="roundRect">
            <a:avLst>
              <a:gd name="adj" fmla="val 8421"/>
            </a:avLst>
          </a:prstGeom>
          <a:solidFill>
            <a:srgbClr val="FFF1E6"/>
          </a:solidFill>
          <a:ln w="12700">
            <a:solidFill>
              <a:srgbClr val="FFF1E6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7" name="Text 4"/>
          <p:cNvSpPr txBox="1"/>
          <p:nvPr/>
        </p:nvSpPr>
        <p:spPr>
          <a:xfrm>
            <a:off x="6035040" y="3456432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 ngưỡng thì mới kết luận được đạt hay không đạt.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2"/>
                </a:solidFill>
              </a:rPr>
              <a:t>Kế hoạch kiểm thử theo IEEE 829 và IEEE 730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5852160" cy="91440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Loại kiểm thử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Công cụ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Minh chứng sinh ra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Chức năng, 135 test case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Excel, Jest, Supertest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Tiger_Shop_TestCases.xlsx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Đơn vị và tích hợp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Jest, Supertest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222 kịch bản, jest-results.json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Độ bao phủ mã nguồn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Istanbul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Báo cáo coverage HTML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Hiệu năng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Apache JMeter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Tệp .jtl, báo cáo HTML của JMeter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Bảo mật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OWASP ZAP, security_probe.js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zap_api_report.html, ket_qua_bao_mat.json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Giao diện, API độc lập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Playwright, Postman, Newman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Dự kiến, chưa thực hiện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6537960" y="1051560"/>
            <a:ext cx="2148840" cy="9144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5" name="Text 2"/>
          <p:cNvSpPr txBox="1"/>
          <p:nvPr/>
        </p:nvSpPr>
        <p:spPr>
          <a:xfrm>
            <a:off x="6675120" y="11430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800" dirty="0"/>
          </a:p>
        </p:txBody>
      </p:sp>
      <p:sp>
        <p:nvSpPr>
          <p:cNvPr id="3" name="Text 3"/>
          <p:cNvSpPr txBox="1"/>
          <p:nvPr/>
        </p:nvSpPr>
        <p:spPr>
          <a:xfrm>
            <a:off x="6675120" y="160020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giai đoạn kiểm thử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537960" y="2103120"/>
            <a:ext cx="2148840" cy="9144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8" name="Text 5"/>
          <p:cNvSpPr txBox="1"/>
          <p:nvPr/>
        </p:nvSpPr>
        <p:spPr>
          <a:xfrm>
            <a:off x="6675120" y="219456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6675120" y="26517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rủi ro được theo dõi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537960" y="3154680"/>
            <a:ext cx="2148840" cy="9144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1" name="Text 8"/>
          <p:cNvSpPr txBox="1"/>
          <p:nvPr/>
        </p:nvSpPr>
        <p:spPr>
          <a:xfrm>
            <a:off x="6675120" y="32461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800" dirty="0"/>
          </a:p>
        </p:txBody>
      </p:sp>
      <p:sp>
        <p:nvSpPr>
          <p:cNvPr id="12" name="Text 9"/>
          <p:cNvSpPr txBox="1"/>
          <p:nvPr/>
        </p:nvSpPr>
        <p:spPr>
          <a:xfrm>
            <a:off x="6675120" y="370332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tiêu chí kết thúc kiểm thử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2"/>
                </a:solidFill>
              </a:rPr>
              <a:t>Môi trường kiểm thử: phải dựng lại trước khi kiểm thử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606040" cy="1874520"/>
          </a:xfrm>
          <a:prstGeom prst="roundRect">
            <a:avLst>
              <a:gd name="adj" fmla="val 3902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4" name="Text 2"/>
          <p:cNvSpPr txBox="1"/>
          <p:nvPr/>
        </p:nvSpPr>
        <p:spPr>
          <a:xfrm>
            <a:off x="621792" y="11704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FIX-01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21792" y="1463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Lược đồ thiếu 9 trên 23 bảng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196596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Suy ngược từ câu truy vấn trong mã, gộp thành schema_full.sql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64408" y="1051560"/>
            <a:ext cx="2606040" cy="1874520"/>
          </a:xfrm>
          <a:prstGeom prst="roundRect">
            <a:avLst>
              <a:gd name="adj" fmla="val 3902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8" name="Text 6"/>
          <p:cNvSpPr txBox="1"/>
          <p:nvPr/>
        </p:nvSpPr>
        <p:spPr>
          <a:xfrm>
            <a:off x="3429000" y="11704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FIX-02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1463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Thiếu 4 cột mã nguồn đang dùng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196596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Bổ sung vào lược đồ, áp dụng cho mọi cơ sở dữ liệu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71616" y="1051560"/>
            <a:ext cx="2606040" cy="1874520"/>
          </a:xfrm>
          <a:prstGeom prst="roundRect">
            <a:avLst>
              <a:gd name="adj" fmla="val 3902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2" name="Text 10"/>
          <p:cNvSpPr txBox="1"/>
          <p:nvPr/>
        </p:nvSpPr>
        <p:spPr>
          <a:xfrm>
            <a:off x="6236208" y="11704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FIX-03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236208" y="1463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db.js ghi cứng kết nối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236208" y="196596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Đọc biến môi trường, tách cơ sở dữ liệu kiểm thử riêng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06324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Bộ dữ liệu kiểm thử, nạp lại trước mỗi lượt chạy</a:t>
            </a:r>
            <a:endParaRPr lang="en-US" sz="13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383280"/>
          <a:ext cx="5394960" cy="91440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Nhóm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Nội dung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Tài khoản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 tài khoản cho 4 vai trò, mật khẩu chung Test@123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Hàng hóa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danh mục, 21 sản phẩm, 9 biến thể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Giao dịch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voucher, 5 đơn hàng ở 5 trạng thái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6071616" y="3108960"/>
            <a:ext cx="2615184" cy="1143000"/>
          </a:xfrm>
          <a:prstGeom prst="roundRect">
            <a:avLst>
              <a:gd name="adj" fmla="val 6400"/>
            </a:avLst>
          </a:prstGeom>
          <a:solidFill>
            <a:srgbClr val="FFF1E6"/>
          </a:solidFill>
          <a:ln w="12700">
            <a:solidFill>
              <a:srgbClr val="FFF1E6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8" name="Text 15"/>
          <p:cNvSpPr txBox="1"/>
          <p:nvPr/>
        </p:nvSpPr>
        <p:spPr>
          <a:xfrm>
            <a:off x="6217920" y="320040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Nhóm chỉ sửa cấu hình để hệ thống chạy được, không sửa lỗi nghiệp vụ.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2"/>
                </a:solidFill>
              </a:rPr>
              <a:t>10 tiêu chí kết thúc kiểm thử đặt ra từ đầu</a:t>
            </a:r>
            <a:endParaRPr lang="en-US" sz="2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Tiêu chí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Ngưỡng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Tiêu chí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Ngưỡng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Tỉ lệ test case đã thực thi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Độ bao phủ câu lệnh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Tối thiểu 70%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Tỉ lệ đạt trên số đã thực thi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Tối thiểu 95%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Độ bao phủ nhánh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Tối thiểu 60%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Khiếm khuyết Nghiêm trọng tồn đọng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Cảnh báo ZAP mức High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Khiếm khuyết mức Cao tồn đọng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Chỉ tiêu hiệu năng Bảng 1.31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Đạt đủ 7/7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Khiếm khuyết Trung bình tồn đọng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Tối đa 3, có kế hoạch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 Case có test case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429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quả đối chiếu với 10 tiêu chí này được trình bày ở cuối bài, sau khi có đủ số liệu kiểm thử.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2"/>
                </a:solidFill>
              </a:rPr>
              <a:t>Thiết kế 135 test case cho 9 nhóm chức năng</a:t>
            </a:r>
            <a:endParaRPr lang="en-US" sz="24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365760" y="1005840"/>
          <a:ext cx="438912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029200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kỹ thuật thiết kế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029200" y="1417320"/>
            <a:ext cx="1737360" cy="347472"/>
          </a:xfrm>
          <a:prstGeom prst="roundRect">
            <a:avLst>
              <a:gd name="adj" fmla="val 2105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6" name="Text 3"/>
          <p:cNvSpPr txBox="1"/>
          <p:nvPr/>
        </p:nvSpPr>
        <p:spPr>
          <a:xfrm>
            <a:off x="5120640" y="141732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Phân vùng tương đương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858000" y="1417320"/>
            <a:ext cx="1737360" cy="347472"/>
          </a:xfrm>
          <a:prstGeom prst="roundRect">
            <a:avLst>
              <a:gd name="adj" fmla="val 2105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8" name="Text 5"/>
          <p:cNvSpPr txBox="1"/>
          <p:nvPr/>
        </p:nvSpPr>
        <p:spPr>
          <a:xfrm>
            <a:off x="6949440" y="141732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Giá trị biên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029200" y="1856232"/>
            <a:ext cx="1737360" cy="347472"/>
          </a:xfrm>
          <a:prstGeom prst="roundRect">
            <a:avLst>
              <a:gd name="adj" fmla="val 2105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0" name="Text 7"/>
          <p:cNvSpPr txBox="1"/>
          <p:nvPr/>
        </p:nvSpPr>
        <p:spPr>
          <a:xfrm>
            <a:off x="5120640" y="1856232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Bảng quyết định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858000" y="1856232"/>
            <a:ext cx="1737360" cy="347472"/>
          </a:xfrm>
          <a:prstGeom prst="roundRect">
            <a:avLst>
              <a:gd name="adj" fmla="val 2105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2" name="Text 9"/>
          <p:cNvSpPr txBox="1"/>
          <p:nvPr/>
        </p:nvSpPr>
        <p:spPr>
          <a:xfrm>
            <a:off x="6949440" y="1856232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Chuyển trạng thái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029200" y="2295144"/>
            <a:ext cx="1737360" cy="347472"/>
          </a:xfrm>
          <a:prstGeom prst="roundRect">
            <a:avLst>
              <a:gd name="adj" fmla="val 2105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4" name="Text 11"/>
          <p:cNvSpPr txBox="1"/>
          <p:nvPr/>
        </p:nvSpPr>
        <p:spPr>
          <a:xfrm>
            <a:off x="5120640" y="2295144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Luồng Use Case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858000" y="2295144"/>
            <a:ext cx="1737360" cy="347472"/>
          </a:xfrm>
          <a:prstGeom prst="roundRect">
            <a:avLst>
              <a:gd name="adj" fmla="val 2105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6" name="Text 13"/>
          <p:cNvSpPr txBox="1"/>
          <p:nvPr/>
        </p:nvSpPr>
        <p:spPr>
          <a:xfrm>
            <a:off x="6949440" y="2295144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Đoán lỗi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5029200" y="2788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 loại kiểm thử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5029200" y="31089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Positive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5943600" y="31089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Negative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6858000" y="31089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7772400" y="31089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Boundary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457200" y="411480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FFF1E6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3" name="Text 20"/>
          <p:cNvSpPr txBox="1"/>
          <p:nvPr/>
        </p:nvSpPr>
        <p:spPr>
          <a:xfrm>
            <a:off x="640080" y="41148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2   </a:t>
            </a: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Mở tệp Tiger_Shop_TestCases.xlsx: sheet Tổng hợp, Toàn bộ Test Case, Truy vết UC và TC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2"/>
                </a:solidFill>
              </a:rPr>
              <a:t>Thực hiện lại test case trực tiếp trên hệ thống</a:t>
            </a:r>
            <a:endParaRPr lang="en-US" sz="2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 case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Kết quả mong đợi theo đặc tả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Cách kiểm tra trong demo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VOUC-008 (giá trị biên)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Đơn 300.000 đ dùng SALE20 (giảm 20%, tối đa 50.000 đ) được giảm đúng 50.000 đ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Khách hàng chọn sản phẩm 300.000 đ, thanh toán, chọn SALE20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PROD-008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Sản phẩm do Quản lý tạo phải chờ Quản trị viên duyệt, chưa hiện trên gian hàng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Quản lý thêm sản phẩm, rồi xem gian hàng bằng tài khoản khách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AUTH-019b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Tài khoản đã bị khóa không đăng nhập được, không được cấp mã đăng nhập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Đăng nhập bằng customer.locked@tigershop.test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429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Mỗi test case ghi đủ: điều kiện, dữ liệu, các bước, kết quả mong đợi, kết quả thực tế, trạng thái.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457200" y="411480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FFF1E6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6" name="Text 3"/>
          <p:cNvSpPr txBox="1"/>
          <p:nvPr/>
        </p:nvSpPr>
        <p:spPr>
          <a:xfrm>
            <a:off x="640080" y="41148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3   </a:t>
            </a: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Chạy lại 3 test case trên web, so kết quả thực tế với kết quả mong đợi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2"/>
                </a:solidFill>
              </a:rPr>
              <a:t>Kết quả: 113 test case đã thực hiện, 107 đạt, 6 không đạt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828800" cy="960120"/>
          </a:xfrm>
          <a:prstGeom prst="roundRect">
            <a:avLst>
              <a:gd name="adj" fmla="val 7619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4" name="Text 2"/>
          <p:cNvSpPr txBox="1"/>
          <p:nvPr/>
        </p:nvSpPr>
        <p:spPr>
          <a:xfrm>
            <a:off x="594360" y="1143000"/>
            <a:ext cx="155448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83,7%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627632"/>
            <a:ext cx="1554480" cy="336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thực hiện 113/135, ngưỡng 100%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148840"/>
            <a:ext cx="1828800" cy="960120"/>
          </a:xfrm>
          <a:prstGeom prst="roundRect">
            <a:avLst>
              <a:gd name="adj" fmla="val 7619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7" name="Text 5"/>
          <p:cNvSpPr txBox="1"/>
          <p:nvPr/>
        </p:nvSpPr>
        <p:spPr>
          <a:xfrm>
            <a:off x="594360" y="2240280"/>
            <a:ext cx="155448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94,7%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724912"/>
            <a:ext cx="1554480" cy="336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đạt trên số đã thực hiện, ngưỡng 95%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246120"/>
            <a:ext cx="1828800" cy="960120"/>
          </a:xfrm>
          <a:prstGeom prst="roundRect">
            <a:avLst>
              <a:gd name="adj" fmla="val 7619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0" name="Text 8"/>
          <p:cNvSpPr txBox="1"/>
          <p:nvPr/>
        </p:nvSpPr>
        <p:spPr>
          <a:xfrm>
            <a:off x="594360" y="3337560"/>
            <a:ext cx="155448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3822192"/>
            <a:ext cx="1554480" cy="336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chưa thực hiện, chủ yếu giao diện và chat thời gian thực</a:t>
            </a:r>
            <a:endParaRPr lang="en-US" sz="1200" dirty="0"/>
          </a:p>
        </p:txBody>
      </p:sp>
      <p:graphicFrame>
        <p:nvGraphicFramePr>
          <p:cNvPr id="12" name="Chart 0"/>
          <p:cNvGraphicFramePr/>
          <p:nvPr/>
        </p:nvGraphicFramePr>
        <p:xfrm>
          <a:off x="2514600" y="1005840"/>
          <a:ext cx="6172200" cy="3337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2"/>
                </a:solidFill>
              </a:rPr>
              <a:t>6 test case không đạt chỉ ra lỗi thật của hệ thống</a:t>
            </a:r>
            <a:endParaRPr lang="en-US" sz="2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 case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Hành vi sai so với đặc tả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Khiếm khuyết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Mức độ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CHAT-009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Khách hàng đọc được hội thoại của người khác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DEF-08, VUL-01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B9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Nghiêm trọng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ADM-005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Đặt lại mật khẩu về một hằng số, lộ trong phản hồi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DEF-06, VUL-02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B9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Nghiêm trọng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PROD-008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Sản phẩm của Quản lý hiện ngay, bỏ qua bước duyệt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DEF-02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B9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ORD-022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Trạng thái đơn nhận mọi giá trị, sai tiến trình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DEF-11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Trung bình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AI-008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Trợ lý ảo trả lời 5.017 ms, vượt ngưỡng 5.000 ms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PERF-03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Trung bình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AUTH-006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Email trùng trả mã 500 thay vì báo lỗi nghiệp vụ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DEF-12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Thấp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393192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FF1E6"/>
          </a:solidFill>
          <a:ln w="12700">
            <a:solidFill>
              <a:srgbClr val="FFF1E6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5" name="Text 2"/>
          <p:cNvSpPr txBox="1"/>
          <p:nvPr/>
        </p:nvSpPr>
        <p:spPr>
          <a:xfrm>
            <a:off x="640080" y="39319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Nguyên tắc: trạng thái test case đánh giá theo đặc tả, không suy ra từ việc kịch bản tự động chạy xanh.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2"/>
                </a:solidFill>
              </a:rPr>
              <a:t>Kiểm thử tự động: 222 kịch bản Jest và Supertest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920240" cy="960120"/>
          </a:xfrm>
          <a:prstGeom prst="roundRect">
            <a:avLst>
              <a:gd name="adj" fmla="val 7619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4" name="Text 2"/>
          <p:cNvSpPr txBox="1"/>
          <p:nvPr/>
        </p:nvSpPr>
        <p:spPr>
          <a:xfrm>
            <a:off x="594360" y="1143000"/>
            <a:ext cx="164592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222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627632"/>
            <a:ext cx="1645920" cy="336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kịch bản trong 16 tệp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60320" y="1051560"/>
            <a:ext cx="1920240" cy="960120"/>
          </a:xfrm>
          <a:prstGeom prst="roundRect">
            <a:avLst>
              <a:gd name="adj" fmla="val 7619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7" name="Text 5"/>
          <p:cNvSpPr txBox="1"/>
          <p:nvPr/>
        </p:nvSpPr>
        <p:spPr>
          <a:xfrm>
            <a:off x="2697480" y="1143000"/>
            <a:ext cx="164592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+ 14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2697480" y="1627632"/>
            <a:ext cx="1645920" cy="336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tệp đơn vị và tích hợp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051560"/>
            <a:ext cx="1920240" cy="960120"/>
          </a:xfrm>
          <a:prstGeom prst="roundRect">
            <a:avLst>
              <a:gd name="adj" fmla="val 7619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0" name="Text 8"/>
          <p:cNvSpPr txBox="1"/>
          <p:nvPr/>
        </p:nvSpPr>
        <p:spPr>
          <a:xfrm>
            <a:off x="4800600" y="1143000"/>
            <a:ext cx="164592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4800600" y="1627632"/>
            <a:ext cx="1645920" cy="336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case Chương III chạy bằng Jest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766560" y="1051560"/>
            <a:ext cx="1920240" cy="960120"/>
          </a:xfrm>
          <a:prstGeom prst="roundRect">
            <a:avLst>
              <a:gd name="adj" fmla="val 7619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3" name="Text 11"/>
          <p:cNvSpPr txBox="1"/>
          <p:nvPr/>
        </p:nvSpPr>
        <p:spPr>
          <a:xfrm>
            <a:off x="6903720" y="1143000"/>
            <a:ext cx="164592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33,0 s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6903720" y="1627632"/>
            <a:ext cx="1645920" cy="336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lượt chạy chính thức 25/09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194560"/>
            <a:ext cx="8229600" cy="1691640"/>
          </a:xfrm>
          <a:prstGeom prst="roundRect">
            <a:avLst>
              <a:gd name="adj" fmla="val 4324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6" name="Text 14"/>
          <p:cNvSpPr txBox="1"/>
          <p:nvPr/>
        </p:nvSpPr>
        <p:spPr>
          <a:xfrm>
            <a:off x="640080" y="228600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Cách tổ chức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Supertest gửi yêu cầu HTTP vào ứng dụng Express, chạy trên cơ sở dữ liệu MySQL thật ecommerce_test.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Dữ liệu mẫu được nạp lại trước mỗi tệp, nên lần chạy nào cũng xuất phát từ cùng một trạng thái.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và dịch vụ gửi thư được giả lập. Tên mỗi test bắt đầu bằng mã test case, ví dụ ORD-014.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Một số test khẳng định hành vi lỗi hiện có để giữ bằng chứng, nên test chạy xanh chưa có nghĩa là hệ thống đúng.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" y="411480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FFF1E6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8" name="Text 16"/>
          <p:cNvSpPr txBox="1"/>
          <p:nvPr/>
        </p:nvSpPr>
        <p:spPr>
          <a:xfrm>
            <a:off x="640080" y="41148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4   </a:t>
            </a: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Chạy toàn bộ 222 kịch bản và đo độ bao phủ ngay trên máy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2"/>
                </a:solidFill>
              </a:rPr>
              <a:t>Độ bao phủ mã nguồn: câu lệnh đạt, nhánh chưa đạt</a:t>
            </a:r>
            <a:endParaRPr lang="en-US" sz="24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365760" y="1005840"/>
          <a:ext cx="493776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0" y="1051560"/>
          <a:ext cx="3200400" cy="91440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Chỉ số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Kết quả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Đánh giá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Câu lệnh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70,85% (1296/1829)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580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Đạt, ngưỡng 70%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Nhánh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56,46% (712/1261)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B9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Chưa đạt, ngưỡng 60%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Hàm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83,15%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Không đặt ngưỡng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Dòng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78,45%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Không đặt ngưỡng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0" y="306324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Nhánh còn thiếu chủ yếu là nhánh xử lý lỗi cơ sở dữ liệu và mã không được gọi, ví dụ adminMiddleware.js đạt 0%.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2"/>
                </a:solidFill>
              </a:rPr>
              <a:t>Giao dịch đặt hàng: hoàn tác và chống tranh chấp</a:t>
            </a:r>
            <a:endParaRPr lang="en-US" sz="2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Kịch bản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Tình huống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Kết quả cần kiểm tra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ORD-013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Đơn có hai mặt hàng, mặt hàng thứ hai không đủ tồn kho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Cả đơn bị hoàn tác, tồn kho mặt hàng thứ nhất không bị trừ, không sinh đơn rác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ORD-014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Hai yêu cầu đồng thời mua sản phẩm chỉ còn 1 chiếc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Chỉ một yêu cầu thành công, tồn kho về 0, không bán vượt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Kiểm thử không chỉ xem mã phản hồi mà truy vấn lại bảng dữ liệu sau mỗi thao tác để chắc chắn trạng thái đúng.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457200" y="411480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FFF1E6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6" name="Text 3"/>
          <p:cNvSpPr txBox="1"/>
          <p:nvPr/>
        </p:nvSpPr>
        <p:spPr>
          <a:xfrm>
            <a:off x="640080" y="41148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5   </a:t>
            </a: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Chạy riêng ORD-013 và ORD-014, xem đoạn kiểm tra trong mã test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2"/>
                </a:solidFill>
              </a:rPr>
              <a:t>Kiểm thử hiệu năng bằng Apache JMeter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kịch bản: danh mục, danh sách sản phẩm, chi tiết sản phẩm, đơn hàng của tôi, đặt hàng. Ba mức tải, mỗi mức 50.000 yêu cầu.</a:t>
            </a:r>
            <a:endParaRPr lang="en-US" sz="13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5669280" cy="9144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Lượt đo chính thức 25/09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 luồng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 luồng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 luồng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Thông lượng (yêu cầu mỗi giây)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524,7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494,7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385,9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Thời gian phản hồi trung bình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93,3 ms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199,0 ms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508,9 ms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Phân vị 95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240 ms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461 ms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1.215 ms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Tỉ lệ lỗi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0,06%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0,08%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0,06%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355080" y="1554480"/>
            <a:ext cx="2331720" cy="2286000"/>
          </a:xfrm>
          <a:prstGeom prst="roundRect">
            <a:avLst>
              <a:gd name="adj" fmla="val 32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6" name="Text 3"/>
          <p:cNvSpPr txBox="1"/>
          <p:nvPr/>
        </p:nvSpPr>
        <p:spPr>
          <a:xfrm>
            <a:off x="6492240" y="1664208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Kịch bản chậm nhất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Đơn hàng của tôi: 934,4 ms ở 200 luồng, vượt ngưỡng 500 ms vì API trả toàn bộ đơn, không phân trang (PERF-02).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411480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FFF1E6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8" name="Text 5"/>
          <p:cNvSpPr txBox="1"/>
          <p:nvPr/>
        </p:nvSpPr>
        <p:spPr>
          <a:xfrm>
            <a:off x="640080" y="41148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6   </a:t>
            </a: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Chạy JMeter trực tiếp: 100 người dùng đồng thời, 10.000 yêu cầu, mở báo cáo HTML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2"/>
                </a:solidFill>
              </a:rPr>
              <a:t>Đối chiếu 7 chỉ tiêu hiệu năng: đạt 5 trên 7</a:t>
            </a:r>
            <a:endParaRPr lang="en-US" sz="2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Chỉ tiêu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Ngưỡng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Kết quả đo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Đánh giá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 đọc dữ liệu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Dưới 500 ms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357,8 ms (KB4, 100 luồng)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580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Đạt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 ghi dữ liệu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Dưới 1.000 ms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263,0 ms (KB5, 100 luồng)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580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Đạt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Trợ lý ảo Tiger AI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Dưới 5.000 ms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5.017 ms trên 6 lượt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B9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Không đạt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Tải trang lần đầu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Dưới 3 giây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Chưa đo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Chưa đánh giá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Người dùng đồng thời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Tối thiểu 100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 luồng, không lỗi kết nối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580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Đạt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Tỉ lệ lỗi ở 100 người dùng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Dưới 1%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0,084%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580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Đạt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Thông lượng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Tối thiểu 50/giây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494,7/giây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580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Đạt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7947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khiếm khuyết hiệu năng: PERF-01 khóa chết khi đặt hàng, PERF-02 không phân trang, PERF-03 trợ lý ảo chậm, PERF-04 mã trạng thái khi Gemini lỗi, PERF-05 bcrypt đồng bộ chặn máy chủ khoảng 68 ms mỗi lần.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2"/>
                </a:solidFill>
              </a:rPr>
              <a:t>PERF-01: khóa chết khi cùng đặt một sản phẩm</a:t>
            </a:r>
            <a:endParaRPr lang="en-US" sz="2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5303520" cy="914400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Bước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Giao dịch 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Giao dịch B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Ghi dòng chi tiết đơn, giữ khóa đọc trên sản phẩm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Ghi dòng chi tiết đơn, cũng giữ khóa đọc trên sản phẩm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Trừ tồn kho, phải chờ B nhả khóa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Trừ tồn kho, phải chờ A nhả khóa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MySQL phát hiện khóa chết, hủy một giao dịch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B9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Khách nhận lỗi HTTP 500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6035040" y="1051560"/>
            <a:ext cx="2651760" cy="960120"/>
          </a:xfrm>
          <a:prstGeom prst="roundRect">
            <a:avLst>
              <a:gd name="adj" fmla="val 7619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5" name="Text 2"/>
          <p:cNvSpPr txBox="1"/>
          <p:nvPr/>
        </p:nvSpPr>
        <p:spPr>
          <a:xfrm>
            <a:off x="6172200" y="1143000"/>
            <a:ext cx="237744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104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6172200" y="1627632"/>
            <a:ext cx="2377440" cy="336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lỗi HTTP 500 trên 30.000 yêu cầu đặt hàng ở 3 mức tải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035040" y="2148840"/>
            <a:ext cx="2651760" cy="960120"/>
          </a:xfrm>
          <a:prstGeom prst="roundRect">
            <a:avLst>
              <a:gd name="adj" fmla="val 7619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8" name="Text 5"/>
          <p:cNvSpPr txBox="1"/>
          <p:nvPr/>
        </p:nvSpPr>
        <p:spPr>
          <a:xfrm>
            <a:off x="6172200" y="2240280"/>
            <a:ext cx="237744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469 byte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6172200" y="2724912"/>
            <a:ext cx="2377440" cy="336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mọi phản hồi lỗi cùng kích thước, đúng thông báo khóa chết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3337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Đề xuất: trừ tồn kho trước rồi mới ghi chi tiết đơn, và thử lại khi gặp khóa chết.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7200" y="411480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FFF1E6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2" name="Text 9"/>
          <p:cNvSpPr txBox="1"/>
          <p:nvPr/>
        </p:nvSpPr>
        <p:spPr>
          <a:xfrm>
            <a:off x="640080" y="41148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7   </a:t>
            </a: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Tái hiện khóa chết trên cơ sở dữ liệu riêng, so sánh hai trình tự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2"/>
                </a:solidFill>
              </a:rPr>
              <a:t>Kiểm thử bảo mật: ba nguồn phát hiện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606040" cy="2834640"/>
          </a:xfrm>
          <a:prstGeom prst="roundRect">
            <a:avLst>
              <a:gd name="adj" fmla="val 280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4" name="Text 2"/>
          <p:cNvSpPr txBox="1"/>
          <p:nvPr/>
        </p:nvSpPr>
        <p:spPr>
          <a:xfrm>
            <a:off x="621792" y="117043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 ZAP quét chủ động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21792" y="16459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119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2240280"/>
            <a:ext cx="2286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quy tắc: 115 đạt, 4 sinh cảnh báo; 0 cảnh báo mức High. Quét qua đặc tả OpenAPI vào cổng 5001.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64408" y="1051560"/>
            <a:ext cx="2606040" cy="2834640"/>
          </a:xfrm>
          <a:prstGeom prst="roundRect">
            <a:avLst>
              <a:gd name="adj" fmla="val 280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8" name="Text 6"/>
          <p:cNvSpPr txBox="1"/>
          <p:nvPr/>
        </p:nvSpPr>
        <p:spPr>
          <a:xfrm>
            <a:off x="3429000" y="117043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Kiểm chứng theo kịch bản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16459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2240280"/>
            <a:ext cx="2286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phép thử trên 7 nhóm rủi ro OWASP: 28 đạt, 10 cảnh báo, 9 thất bại. SQL Injection đạt 13/13.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71616" y="1051560"/>
            <a:ext cx="2606040" cy="2834640"/>
          </a:xfrm>
          <a:prstGeom prst="roundRect">
            <a:avLst>
              <a:gd name="adj" fmla="val 280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2" name="Text 10"/>
          <p:cNvSpPr txBox="1"/>
          <p:nvPr/>
        </p:nvSpPr>
        <p:spPr>
          <a:xfrm>
            <a:off x="6236208" y="117043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Rà soát mã nguồn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236208" y="16459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6236208" y="2240280"/>
            <a:ext cx="2286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lỗ hổng sau khi tổng hợp ba nguồn, gồm các tuyến thiếu phân quyền và sự kiện Socket.IO không xác thực.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11480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FFF1E6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6" name="Text 14"/>
          <p:cNvSpPr txBox="1"/>
          <p:nvPr/>
        </p:nvSpPr>
        <p:spPr>
          <a:xfrm>
            <a:off x="640080" y="41148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8   </a:t>
            </a: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Chạy 47 phép kiểm chứng, lỗi đọc chéo hội thoại CHAT-009, mở báo cáo ZAP vừa quét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2"/>
                </a:solidFill>
              </a:rPr>
              <a:t>16 lỗ hổng, trong đó 4 lỗ hổng mức Nghiêm trọng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737360" cy="658368"/>
          </a:xfrm>
          <a:prstGeom prst="roundRect">
            <a:avLst>
              <a:gd name="adj" fmla="val 1111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4" name="Text 2"/>
          <p:cNvSpPr txBox="1"/>
          <p:nvPr/>
        </p:nvSpPr>
        <p:spPr>
          <a:xfrm>
            <a:off x="594360" y="105156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051560"/>
            <a:ext cx="1051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Nghiêm trọng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801368"/>
            <a:ext cx="1737360" cy="658368"/>
          </a:xfrm>
          <a:prstGeom prst="roundRect">
            <a:avLst>
              <a:gd name="adj" fmla="val 1111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7" name="Text 5"/>
          <p:cNvSpPr txBox="1"/>
          <p:nvPr/>
        </p:nvSpPr>
        <p:spPr>
          <a:xfrm>
            <a:off x="594360" y="1801368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801368"/>
            <a:ext cx="1051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Cao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2551176"/>
            <a:ext cx="1737360" cy="658368"/>
          </a:xfrm>
          <a:prstGeom prst="roundRect">
            <a:avLst>
              <a:gd name="adj" fmla="val 1111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0" name="Text 8"/>
          <p:cNvSpPr txBox="1"/>
          <p:nvPr/>
        </p:nvSpPr>
        <p:spPr>
          <a:xfrm>
            <a:off x="594360" y="2551176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551176"/>
            <a:ext cx="1051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Trung bình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3300984"/>
            <a:ext cx="1737360" cy="658368"/>
          </a:xfrm>
          <a:prstGeom prst="roundRect">
            <a:avLst>
              <a:gd name="adj" fmla="val 1111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3" name="Text 11"/>
          <p:cNvSpPr txBox="1"/>
          <p:nvPr/>
        </p:nvSpPr>
        <p:spPr>
          <a:xfrm>
            <a:off x="594360" y="3300984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300984"/>
            <a:ext cx="1051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Thấp</a:t>
            </a:r>
            <a:endParaRPr lang="en-US" sz="125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423160" y="1051560"/>
          <a:ext cx="6263640" cy="91440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17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Mã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Lỗ hổng mức Nghiêm trọng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OWASP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VUL-01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Đọc trái phép hội thoại của người dùng khác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A01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VUL-02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Đặt lại mật khẩu về hằng số, lộ trong phản hồi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A04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VUL-12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Tuyến sửa sản phẩm thiếu kiểm soát vai trò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A01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VUL-13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Quản lý tự nâng vai trò của mình lên ADMIN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A01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2423160" y="3063240"/>
            <a:ext cx="6263640" cy="960120"/>
          </a:xfrm>
          <a:prstGeom prst="roundRect">
            <a:avLst>
              <a:gd name="adj" fmla="val 7619"/>
            </a:avLst>
          </a:prstGeom>
          <a:solidFill>
            <a:srgbClr val="FFF1E6"/>
          </a:solidFill>
          <a:ln w="12700">
            <a:solidFill>
              <a:srgbClr val="FFF1E6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7" name="Text 14"/>
          <p:cNvSpPr txBox="1"/>
          <p:nvPr/>
        </p:nvSpPr>
        <p:spPr>
          <a:xfrm>
            <a:off x="2606040" y="3108960"/>
            <a:ext cx="594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Quét sạch chưa có nghĩa là an toàn: ZAP không báo mức High nào, nhưng cả 4 lỗ hổng Nghiêm trọng đều là lỗi phân quyền theo nghiệp vụ mà máy quét không hiểu.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2"/>
                </a:solidFill>
              </a:rPr>
              <a:t>Tổng hợp: 36 khiếm khuyết còn tồn đọng</a:t>
            </a:r>
            <a:endParaRPr lang="en-US" sz="24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365760" y="1005840"/>
          <a:ext cx="475488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0" y="1051560"/>
          <a:ext cx="3291840" cy="9144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Theo loại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Số lượng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Lỗ hổng bảo mật (VUL)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Chức năng, chỉ mang mã DEF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Chất lượng mã (QUA)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Hiệu năng (PERF)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Tổng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394960" y="333756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Một lỗi phát hiện ở nhiều chương, ví dụ DEF-08 và VUL-01, chỉ được tính một lần.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2"/>
                </a:solidFill>
              </a:rPr>
              <a:t>Đánh giá theo ISO/IEC 25010: trung bình 3,0/5</a:t>
            </a:r>
            <a:endParaRPr lang="en-US" sz="24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365760" y="1005840"/>
          <a:ext cx="512064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5760720" y="1051560"/>
            <a:ext cx="2926080" cy="3017520"/>
          </a:xfrm>
          <a:prstGeom prst="roundRect">
            <a:avLst>
              <a:gd name="adj" fmla="val 25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5" name="Text 2"/>
          <p:cNvSpPr txBox="1"/>
          <p:nvPr/>
        </p:nvSpPr>
        <p:spPr>
          <a:xfrm>
            <a:off x="5943600" y="1188720"/>
            <a:ext cx="26060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Căn cứ chấm điểm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Bảo mật 1/5: còn 4 lỗ hổng Nghiêm trọng.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Hiệu năng và độ tin cậy 4/5: đáp ứng tải 100 người dùng, giao dịch đặt hàng được kiểm chứng là nguyên tử.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Tính khả dụng chưa đánh giá vì 22 test case giao diện chưa thực hiện, nên trung bình tính trên 7 đặc tính.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2"/>
                </a:solidFill>
              </a:rPr>
              <a:t>Đối chiếu 10 tiêu chí kết thúc: đạt 3 trên 10</a:t>
            </a:r>
            <a:endParaRPr lang="en-US" sz="24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Tiêu chí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Kết quả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Đánh giá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Tiêu chí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Kết quả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Đánh giá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Thực thi 100%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83,7%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B9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Chưa đạt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Bao phủ câu lệnh 70%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70,85%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Đạt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Đạt 95%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94,7%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B9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Chưa đạt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Bao phủ nhánh 60%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56,46%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B9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Chưa đạt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Nghiêm trọng bằng 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B9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Chưa đạt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ZAP mức High bằng 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Đạt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Cao bằng 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B9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Chưa đạt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Hiệu năng 7/7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5/7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B9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Chưa đạt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Trung bình tối đa 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B9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Chưa đạt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 Case có test case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Đạt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324612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FFF1E6"/>
          </a:solidFill>
          <a:ln w="12700">
            <a:solidFill>
              <a:srgbClr val="FFF1E6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5" name="Text 2"/>
          <p:cNvSpPr txBox="1"/>
          <p:nvPr/>
        </p:nvSpPr>
        <p:spPr>
          <a:xfrm>
            <a:off x="640080" y="3310128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luận: Tiger Shop chưa đủ điều kiện nghiệm thu để đưa vào vận hành.</a:t>
            </a:r>
            <a:endParaRPr lang="en-US" sz="13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Nền tảng nghiệp vụ và độ tin cậy tốt; lý do chính là bảo mật, với 4 lỗ hổng Nghiêm trọng về phân quyền.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2"/>
                </a:solidFill>
              </a:rPr>
              <a:t>Hạn chế và hướng tiếp theo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3977640" cy="3200400"/>
          </a:xfrm>
          <a:prstGeom prst="roundRect">
            <a:avLst>
              <a:gd name="adj" fmla="val 2286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4" name="Text 2"/>
          <p:cNvSpPr txBox="1"/>
          <p:nvPr/>
        </p:nvSpPr>
        <p:spPr>
          <a:xfrm>
            <a:off x="640080" y="11704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Hạn chế của đợt kiểm thử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54480"/>
            <a:ext cx="36576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Chưa có kiểm thử giao diện tự động bằng Playwright và bộ Postman, Newman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test case giao diện, chat thời gian thực chưa thực hiện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 trong 107 test case đạt mới kiểm chứng một phần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Chưa đo thời gian tải trang lần đầu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Máy phát tải chạy chung máy với máy chủ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09160" y="1051560"/>
            <a:ext cx="3977640" cy="3200400"/>
          </a:xfrm>
          <a:prstGeom prst="roundRect">
            <a:avLst>
              <a:gd name="adj" fmla="val 2286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7" name="Text 5"/>
          <p:cNvSpPr txBox="1"/>
          <p:nvPr/>
        </p:nvSpPr>
        <p:spPr>
          <a:xfrm>
            <a:off x="4892040" y="11704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Ưu tiên khắc phục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554480"/>
            <a:ext cx="36576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Ngay lập tức: </a:t>
            </a:r>
            <a:r>
              <a:rPr lang="en-US" sz="12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lỗ hổng Nghiêm trọng và sự kiện join_thread không xác thực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Tuần đầu: </a:t>
            </a:r>
            <a:r>
              <a:rPr lang="en-US" sz="12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 lỗi mức Cao, quy trình duyệt sản phẩm, Helmet, CORS, thử lại khi khóa chết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Tháng đầu: </a:t>
            </a:r>
            <a:r>
              <a:rPr lang="en-US" sz="12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phân trang đơn hàng, bcrypt bất đồng bộ, đưa SMTP ra biến môi trường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Song song: </a:t>
            </a:r>
            <a:r>
              <a:rPr lang="en-US" sz="12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hoàn thiện bộ kiểm thử, chạy lại 222 kịch bản sau mỗi lần sửa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Cảm ơn thầy đã theo dõi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3317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Nhóm 5 · Trần Đình Danh · Lê Đình Đức Anh · Lê Quang Thắng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0175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Mã nguồn, minh chứng kiểm thử và báo cáo: github.com/kanrezza/danh-gia-kiem-dinh-he-thong-thuong-mai-dien-tu-co-tich-hop-AI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iger Shop QA">
  <a:themeElements>
    <a:clrScheme name="Tiger Shop QA">
      <a:dk1>
        <a:srgbClr val="1F2937"/>
      </a:dk1>
      <a:lt1>
        <a:srgbClr val="FFFFFF"/>
      </a:lt1>
      <a:dk2>
        <a:srgbClr val="1E3A5F"/>
      </a:dk2>
      <a:lt2>
        <a:srgbClr val="F3F4F6"/>
      </a:lt2>
      <a:accent1>
        <a:srgbClr val="1E3A5F"/>
      </a:accent1>
      <a:accent2>
        <a:srgbClr val="C2410C"/>
      </a:accent2>
      <a:accent3>
        <a:srgbClr val="15803D"/>
      </a:accent3>
      <a:accent4>
        <a:srgbClr val="B91C1C"/>
      </a:accent4>
      <a:accent5>
        <a:srgbClr val="6B7280"/>
      </a:accent5>
      <a:accent6>
        <a:srgbClr val="2563EB"/>
      </a:accent6>
      <a:hlink>
        <a:srgbClr val="2563EB"/>
      </a:hlink>
      <a:folHlink>
        <a:srgbClr val="7C3AED"/>
      </a:folHlink>
    </a:clrScheme>
    <a:fontScheme name="Tiger Shop QA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2926</Words>
  <Application>Microsoft Macintosh PowerPoint</Application>
  <PresentationFormat>On-screen Show (16:9)</PresentationFormat>
  <Paragraphs>486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6" baseType="lpstr">
      <vt:lpstr>Arial</vt:lpstr>
      <vt:lpstr>Tiger Shop QA</vt:lpstr>
      <vt:lpstr>PowerPoint Presentation</vt:lpstr>
      <vt:lpstr>Nội dung và cách trình bày</vt:lpstr>
      <vt:lpstr>Đối tượng kiểm thử: hệ thống Tiger Shop</vt:lpstr>
      <vt:lpstr>Yêu cầu phi chức năng có ngưỡng đo được</vt:lpstr>
      <vt:lpstr>Kế hoạch kiểm thử theo IEEE 829 và IEEE 730</vt:lpstr>
      <vt:lpstr>Môi trường kiểm thử: phải dựng lại trước khi kiểm thử</vt:lpstr>
      <vt:lpstr>10 tiêu chí kết thúc kiểm thử đặt ra từ đầu</vt:lpstr>
      <vt:lpstr>Thiết kế 135 test case cho 9 nhóm chức năng</vt:lpstr>
      <vt:lpstr>Thực hiện lại test case trực tiếp trên hệ thống</vt:lpstr>
      <vt:lpstr>Kết quả: 113 test case đã thực hiện, 107 đạt, 6 không đạt</vt:lpstr>
      <vt:lpstr>6 test case không đạt chỉ ra lỗi thật của hệ thống</vt:lpstr>
      <vt:lpstr>Kiểm thử tự động: 222 kịch bản Jest và Supertest</vt:lpstr>
      <vt:lpstr>Độ bao phủ mã nguồn: câu lệnh đạt, nhánh chưa đạt</vt:lpstr>
      <vt:lpstr>Giao dịch đặt hàng: hoàn tác và chống tranh chấp</vt:lpstr>
      <vt:lpstr>Kiểm thử hiệu năng bằng Apache JMeter</vt:lpstr>
      <vt:lpstr>Đối chiếu 7 chỉ tiêu hiệu năng: đạt 5 trên 7</vt:lpstr>
      <vt:lpstr>PERF-01: khóa chết khi cùng đặt một sản phẩm</vt:lpstr>
      <vt:lpstr>Kiểm thử bảo mật: ba nguồn phát hiện</vt:lpstr>
      <vt:lpstr>16 lỗ hổng, trong đó 4 lỗ hổng mức Nghiêm trọng</vt:lpstr>
      <vt:lpstr>Tổng hợp: 36 khiếm khuyết còn tồn đọng</vt:lpstr>
      <vt:lpstr>Đánh giá theo ISO/IEC 25010: trung bình 3,0/5</vt:lpstr>
      <vt:lpstr>Đối chiếu 10 tiêu chí kết thúc: đạt 3 trên 10</vt:lpstr>
      <vt:lpstr>Hạn chế và hướng tiếp theo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Đánh giá và kiểm định chất lượng hệ thống Tiger Shop</dc:title>
  <dc:subject>PptxGenJS Presentation</dc:subject>
  <dc:creator>Nhóm 5</dc:creator>
  <cp:lastModifiedBy>Tran Dinh Danh</cp:lastModifiedBy>
  <cp:revision>2</cp:revision>
  <dcterms:created xsi:type="dcterms:W3CDTF">2026-10-27T12:02:49Z</dcterms:created>
  <dcterms:modified xsi:type="dcterms:W3CDTF">2026-10-27T14:23:23Z</dcterms:modified>
</cp:coreProperties>
</file>